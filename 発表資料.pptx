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15AD501-3602-4948-A952-84A9E974631D}">
          <p14:sldIdLst>
            <p14:sldId id="256"/>
            <p14:sldId id="261"/>
          </p14:sldIdLst>
        </p14:section>
        <p14:section name="タイトルなしのセクション" id="{3BC07AD2-DB2A-49F3-927C-064BD2852780}">
          <p14:sldIdLst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DBBCB4-3CE1-2DEA-5B2B-485F47E7D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07BEF2-008F-6B7F-DB49-CCBC0C347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BD7636-4F63-5D14-F50F-6F07D6B5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F8D7EA-CC18-FD74-1A8F-1F1136CD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4EE4D5-0A48-BB30-E939-1ADB9D92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92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35BF64-5E3D-817D-3C10-BF05A22F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2F236-E84C-4FF8-F623-78D5F5DC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00D079-9A3B-B12C-DF28-03334C0F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48C39D-FB66-D494-E6EA-4835C266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003295-1815-6B24-98BE-53D0DF53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580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F73790-2A2D-3DF7-B27A-422DD8C3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91816B-1CCC-1A22-57F0-CDDA72F6E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46F7AC-FF23-4830-9426-8165240DC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5573B3-59CA-360C-2BEE-CC99CEDEB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DB6E7E-9F09-E8CD-6C03-585D9271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901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BFAE33-0DA2-588C-E585-54E91E014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96BC9D-E670-F060-616B-FE3AE2CF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437BA4-69BD-98F0-AC0D-D9A12AD54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B51F0B-DBF8-CFE3-38D9-E98E5A64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47EA95-0114-C2E8-AAA2-901010B4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C8CDF0-0A88-37CF-2513-EE81D05B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763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C5F675-F14C-E76A-74BD-64CC71C02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EDF245-5224-BC69-37B1-E6F49FD3D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AB5CB38-92F1-F00E-60C6-F7D575B9A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2F05170-2E93-3654-F80C-97C4DC88E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EF51697-7909-073B-2BCA-B34863D86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ED2E24-0A20-74B8-AFEC-CC0B64CC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BA220C-6C62-419E-DBA9-194DFBD7A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2FC934F-5BA0-0490-2314-6E83EAB8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246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CD2136-162F-7FDC-8C15-A2B8A41D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F73C9B-243A-8E18-484A-2814B834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205794E-BB9D-861F-6FCE-FEF8F9D2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5CB0BA9-5A65-902C-82DA-D1ACE213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715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E6F92E-BFB2-4BD2-4E37-CBB692896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D41ECA7-6578-537F-45C4-8E1BE302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AAC8ED-B76F-BE6C-C9D2-E2867CE50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6199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A886F7-3FF8-CFF5-24D5-AB878E20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0AEF21-AD9F-1E00-1B19-AC8A9CEBE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C280AB-EE5F-ADE2-8AA9-B649220A8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D33437-49B2-C330-F0BE-090EF22D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ABE75F-C231-FD99-469A-15B1DC76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4D33F2-CA32-499D-2CD9-E150696C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523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A8BEE6-8D4B-38FF-EE06-DEC1C3F2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89A8FDF-0442-2EDB-9850-601F2A4C7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16AD5B-CAF3-F400-882F-6287FE46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6CE2FB-68EE-A0F5-5AE5-3E290599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088583-DF1F-A3C9-728C-24EC9DA9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C4918F2-CB91-91F8-F46E-D62EE059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7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69D34D-D571-CB82-B069-ADE5F3CA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827F9B8-353B-01D2-E496-B077DF6AE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EEACBB-FD94-9042-1B8D-CA724EBE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0FC15E-A838-4A5A-3D43-7FDB4BF4B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1C3855-81B1-E5EC-2B34-064B75F3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383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7291E4C-FCFA-9AC7-0394-AA573C6F3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84185B-FA25-2210-1280-0AE003E05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784250-2AEA-DB90-B069-8D4FDAEB6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D53F94-948C-BBC4-2F02-3BA88717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EC73C4-2B37-DD02-EFD5-6EA34E4D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659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41F1877-EC62-3452-A64A-21A98694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E1CE6A-05DA-6A2F-7F68-A939C72F9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721CF0-9CE6-12B1-4FA6-DFF7EB02D5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B6D2-DD62-4248-99BD-3FD8922602E1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07D305-146A-E5EF-0D1C-2305453AF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A93A83-E2E1-06CA-AC81-911175B22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B5327-392D-4893-A5E1-1083B0AD0A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10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CBCAAD-9926-4456-5D5C-93CD0D6AD3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技育キャンプ </a:t>
            </a:r>
            <a:r>
              <a:rPr kumimoji="1" lang="en-US" altLang="ja-JP" dirty="0"/>
              <a:t>Vol.17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E33F0E1-CCD4-7A4B-4FC9-0CDC2153C6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57469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1D6D88EF-1D7B-8735-A320-E02E90AB4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60168"/>
            <a:ext cx="12192000" cy="6918167"/>
          </a:xfrm>
        </p:spPr>
      </p:pic>
    </p:spTree>
    <p:extLst>
      <p:ext uri="{BB962C8B-B14F-4D97-AF65-F5344CB8AC3E}">
        <p14:creationId xmlns:p14="http://schemas.microsoft.com/office/powerpoint/2010/main" val="406427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D35D31B-8160-E136-197C-2E821E26E897}"/>
              </a:ext>
            </a:extLst>
          </p:cNvPr>
          <p:cNvSpPr/>
          <p:nvPr/>
        </p:nvSpPr>
        <p:spPr>
          <a:xfrm>
            <a:off x="-476250" y="-400050"/>
            <a:ext cx="13082587" cy="7881053"/>
          </a:xfrm>
          <a:prstGeom prst="roundRect">
            <a:avLst/>
          </a:prstGeom>
          <a:gradFill flip="none" rotWithShape="1">
            <a:gsLst>
              <a:gs pos="63000">
                <a:schemeClr val="bg1"/>
              </a:gs>
              <a:gs pos="0">
                <a:schemeClr val="accent2">
                  <a:alpha val="38000"/>
                  <a:lumMod val="27000"/>
                  <a:lumOff val="73000"/>
                </a:schemeClr>
              </a:gs>
              <a:gs pos="100000">
                <a:schemeClr val="accent4">
                  <a:alpha val="0"/>
                  <a:lumMod val="45000"/>
                  <a:lumOff val="5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E9E8CF-9712-F48F-36BD-ECD6C4ECD186}"/>
              </a:ext>
            </a:extLst>
          </p:cNvPr>
          <p:cNvSpPr txBox="1"/>
          <p:nvPr/>
        </p:nvSpPr>
        <p:spPr>
          <a:xfrm>
            <a:off x="8188516" y="2067606"/>
            <a:ext cx="301466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altLang="ja-JP" sz="2000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Backend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01B5DEF9-4D90-FDB9-3034-1D7F8F93F448}"/>
              </a:ext>
            </a:extLst>
          </p:cNvPr>
          <p:cNvGrpSpPr/>
          <p:nvPr/>
        </p:nvGrpSpPr>
        <p:grpSpPr>
          <a:xfrm>
            <a:off x="823549" y="1196299"/>
            <a:ext cx="10823905" cy="5267325"/>
            <a:chOff x="901370" y="1562100"/>
            <a:chExt cx="10687959" cy="5086350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979A4C27-D68D-BD2A-39DC-53C7777E700E}"/>
                </a:ext>
              </a:extLst>
            </p:cNvPr>
            <p:cNvGrpSpPr/>
            <p:nvPr/>
          </p:nvGrpSpPr>
          <p:grpSpPr>
            <a:xfrm>
              <a:off x="901370" y="1562100"/>
              <a:ext cx="10052380" cy="5086350"/>
              <a:chOff x="1396671" y="1832421"/>
              <a:chExt cx="9318954" cy="4617232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7EAAB634-CEA7-D8DE-07CA-2E60851BC342}"/>
                  </a:ext>
                </a:extLst>
              </p:cNvPr>
              <p:cNvGrpSpPr/>
              <p:nvPr/>
            </p:nvGrpSpPr>
            <p:grpSpPr>
              <a:xfrm>
                <a:off x="1396671" y="1862228"/>
                <a:ext cx="3871913" cy="4587425"/>
                <a:chOff x="6843712" y="1832421"/>
                <a:chExt cx="3871913" cy="4587425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6" name="雲 5">
                  <a:extLst>
                    <a:ext uri="{FF2B5EF4-FFF2-40B4-BE49-F238E27FC236}">
                      <a16:creationId xmlns:a16="http://schemas.microsoft.com/office/drawing/2014/main" id="{B6A68D51-9686-AB72-7EFB-0DAF5FE0FAE1}"/>
                    </a:ext>
                  </a:extLst>
                </p:cNvPr>
                <p:cNvSpPr/>
                <p:nvPr/>
              </p:nvSpPr>
              <p:spPr>
                <a:xfrm rot="906288">
                  <a:off x="7004146" y="1832421"/>
                  <a:ext cx="3676650" cy="2157412"/>
                </a:xfrm>
                <a:prstGeom prst="clou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8" name="四角形: 角を丸くする 7">
                  <a:extLst>
                    <a:ext uri="{FF2B5EF4-FFF2-40B4-BE49-F238E27FC236}">
                      <a16:creationId xmlns:a16="http://schemas.microsoft.com/office/drawing/2014/main" id="{F6C15B66-B8F4-FB49-4FD3-A73343C3498E}"/>
                    </a:ext>
                  </a:extLst>
                </p:cNvPr>
                <p:cNvSpPr/>
                <p:nvPr/>
              </p:nvSpPr>
              <p:spPr>
                <a:xfrm>
                  <a:off x="6843712" y="2190749"/>
                  <a:ext cx="3871913" cy="4229097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4625F3D2-7875-56AF-A03D-C805A6C807FA}"/>
                  </a:ext>
                </a:extLst>
              </p:cNvPr>
              <p:cNvGrpSpPr/>
              <p:nvPr/>
            </p:nvGrpSpPr>
            <p:grpSpPr>
              <a:xfrm>
                <a:off x="6843712" y="1832421"/>
                <a:ext cx="3871913" cy="4587425"/>
                <a:chOff x="6843712" y="1832421"/>
                <a:chExt cx="3871913" cy="4587425"/>
              </a:xfrm>
            </p:grpSpPr>
            <p:sp>
              <p:nvSpPr>
                <p:cNvPr id="10" name="雲 9">
                  <a:extLst>
                    <a:ext uri="{FF2B5EF4-FFF2-40B4-BE49-F238E27FC236}">
                      <a16:creationId xmlns:a16="http://schemas.microsoft.com/office/drawing/2014/main" id="{CA747C02-6E8D-69A5-720E-BBF5244136E3}"/>
                    </a:ext>
                  </a:extLst>
                </p:cNvPr>
                <p:cNvSpPr/>
                <p:nvPr/>
              </p:nvSpPr>
              <p:spPr>
                <a:xfrm rot="906288">
                  <a:off x="7004146" y="1832421"/>
                  <a:ext cx="3676650" cy="2157412"/>
                </a:xfrm>
                <a:prstGeom prst="cloud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7" name="四角形: 角を丸くする 6">
                  <a:extLst>
                    <a:ext uri="{FF2B5EF4-FFF2-40B4-BE49-F238E27FC236}">
                      <a16:creationId xmlns:a16="http://schemas.microsoft.com/office/drawing/2014/main" id="{EE68E9D4-05A0-CF99-8392-0AB8FF25266F}"/>
                    </a:ext>
                  </a:extLst>
                </p:cNvPr>
                <p:cNvSpPr/>
                <p:nvPr/>
              </p:nvSpPr>
              <p:spPr>
                <a:xfrm>
                  <a:off x="6843712" y="2190749"/>
                  <a:ext cx="3871913" cy="4229097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4AF1C23A-8F27-4ECF-71FD-62CB69D70B46}"/>
                  </a:ext>
                </a:extLst>
              </p:cNvPr>
              <p:cNvSpPr txBox="1"/>
              <p:nvPr/>
            </p:nvSpPr>
            <p:spPr>
              <a:xfrm>
                <a:off x="2631938" y="2105734"/>
                <a:ext cx="3014662" cy="404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extrusionH="57150">
                  <a:bevelT w="38100" h="38100" prst="relaxedInset"/>
                </a:sp3d>
              </a:bodyPr>
              <a:lstStyle/>
              <a:p>
                <a:r>
                  <a:rPr lang="en-US" altLang="ja-JP" sz="2400" dirty="0">
                    <a:effectLst/>
                  </a:rPr>
                  <a:t>Frontend</a:t>
                </a:r>
              </a:p>
            </p:txBody>
          </p:sp>
          <p:grpSp>
            <p:nvGrpSpPr>
              <p:cNvPr id="41" name="グループ化 40">
                <a:extLst>
                  <a:ext uri="{FF2B5EF4-FFF2-40B4-BE49-F238E27FC236}">
                    <a16:creationId xmlns:a16="http://schemas.microsoft.com/office/drawing/2014/main" id="{D1EF822C-B57A-FF86-0262-0DEC20120BFB}"/>
                  </a:ext>
                </a:extLst>
              </p:cNvPr>
              <p:cNvGrpSpPr/>
              <p:nvPr/>
            </p:nvGrpSpPr>
            <p:grpSpPr>
              <a:xfrm>
                <a:off x="1814563" y="2871704"/>
                <a:ext cx="3144941" cy="1446339"/>
                <a:chOff x="1782503" y="2985267"/>
                <a:chExt cx="3144941" cy="1446339"/>
              </a:xfrm>
            </p:grpSpPr>
            <p:sp>
              <p:nvSpPr>
                <p:cNvPr id="22" name="フローチャート: 代替処理 21">
                  <a:extLst>
                    <a:ext uri="{FF2B5EF4-FFF2-40B4-BE49-F238E27FC236}">
                      <a16:creationId xmlns:a16="http://schemas.microsoft.com/office/drawing/2014/main" id="{B4C27CF3-F4DE-FB4C-3A8C-226A8E51BEA8}"/>
                    </a:ext>
                  </a:extLst>
                </p:cNvPr>
                <p:cNvSpPr/>
                <p:nvPr/>
              </p:nvSpPr>
              <p:spPr>
                <a:xfrm>
                  <a:off x="1782503" y="2985267"/>
                  <a:ext cx="3144941" cy="1446339"/>
                </a:xfrm>
                <a:prstGeom prst="flowChartAlternateProcess">
                  <a:avLst/>
                </a:prstGeom>
                <a:solidFill>
                  <a:schemeClr val="bg1"/>
                </a:solidFill>
                <a:ln w="508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3" name="四角形: 角を丸くする 22">
                  <a:extLst>
                    <a:ext uri="{FF2B5EF4-FFF2-40B4-BE49-F238E27FC236}">
                      <a16:creationId xmlns:a16="http://schemas.microsoft.com/office/drawing/2014/main" id="{5C9E876F-889F-5CD0-D78A-7F6FB8225AD3}"/>
                    </a:ext>
                  </a:extLst>
                </p:cNvPr>
                <p:cNvSpPr/>
                <p:nvPr/>
              </p:nvSpPr>
              <p:spPr>
                <a:xfrm>
                  <a:off x="1952625" y="3167881"/>
                  <a:ext cx="2845505" cy="52223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>
                      <a:solidFill>
                        <a:schemeClr val="tx1"/>
                      </a:solidFill>
                    </a:rPr>
                    <a:t>　</a:t>
                  </a:r>
                  <a:r>
                    <a:rPr kumimoji="1" lang="en-US" altLang="ja-JP" b="1" dirty="0">
                      <a:solidFill>
                        <a:schemeClr val="tx1"/>
                      </a:solidFill>
                    </a:rPr>
                    <a:t>50m</a:t>
                  </a:r>
                  <a:r>
                    <a:rPr kumimoji="1" lang="ja-JP" altLang="en-US" b="1" dirty="0">
                      <a:solidFill>
                        <a:schemeClr val="tx1"/>
                      </a:solidFill>
                    </a:rPr>
                    <a:t>走タイム</a:t>
                  </a:r>
                  <a:r>
                    <a:rPr kumimoji="1" lang="en-US" altLang="ja-JP" b="1" dirty="0">
                      <a:solidFill>
                        <a:schemeClr val="tx1"/>
                      </a:solidFill>
                    </a:rPr>
                    <a:t>(</a:t>
                  </a:r>
                  <a:r>
                    <a:rPr kumimoji="1" lang="ja-JP" altLang="en-US" b="1" dirty="0">
                      <a:solidFill>
                        <a:schemeClr val="tx1"/>
                      </a:solidFill>
                    </a:rPr>
                    <a:t>秒</a:t>
                  </a:r>
                  <a:r>
                    <a:rPr kumimoji="1" lang="en-US" altLang="ja-JP" dirty="0">
                      <a:solidFill>
                        <a:schemeClr val="tx1"/>
                      </a:solidFill>
                    </a:rPr>
                    <a:t>)</a:t>
                  </a:r>
                  <a:r>
                    <a:rPr kumimoji="1" lang="en-US" altLang="ja-JP" dirty="0"/>
                    <a:t>)</a:t>
                  </a:r>
                  <a:endParaRPr kumimoji="1" lang="ja-JP" altLang="en-US" dirty="0"/>
                </a:p>
              </p:txBody>
            </p:sp>
            <p:pic>
              <p:nvPicPr>
                <p:cNvPr id="37" name="グラフィックス 36" descr="ストップウォッチ 75% 単色塗りつぶし">
                  <a:extLst>
                    <a:ext uri="{FF2B5EF4-FFF2-40B4-BE49-F238E27FC236}">
                      <a16:creationId xmlns:a16="http://schemas.microsoft.com/office/drawing/2014/main" id="{4AC8D803-D3E9-8C09-A744-CBD3F18C2E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94734" y="3229617"/>
                  <a:ext cx="411677" cy="411677"/>
                </a:xfrm>
                <a:prstGeom prst="rect">
                  <a:avLst/>
                </a:prstGeom>
              </p:spPr>
            </p:pic>
            <p:sp>
              <p:nvSpPr>
                <p:cNvPr id="38" name="四角形: 角を丸くする 37">
                  <a:extLst>
                    <a:ext uri="{FF2B5EF4-FFF2-40B4-BE49-F238E27FC236}">
                      <a16:creationId xmlns:a16="http://schemas.microsoft.com/office/drawing/2014/main" id="{530D64C3-ED55-50F3-0FFC-E7D3C534AB0B}"/>
                    </a:ext>
                  </a:extLst>
                </p:cNvPr>
                <p:cNvSpPr/>
                <p:nvPr/>
              </p:nvSpPr>
              <p:spPr>
                <a:xfrm>
                  <a:off x="1952625" y="3779786"/>
                  <a:ext cx="2845505" cy="52223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b="1" dirty="0">
                      <a:solidFill>
                        <a:schemeClr val="tx1"/>
                      </a:solidFill>
                    </a:rPr>
                    <a:t>  クマとの距離</a:t>
                  </a:r>
                  <a:r>
                    <a:rPr kumimoji="1" lang="en-US" altLang="ja-JP" b="1" dirty="0">
                      <a:solidFill>
                        <a:schemeClr val="tx1"/>
                      </a:solidFill>
                    </a:rPr>
                    <a:t>(m)</a:t>
                  </a:r>
                  <a:r>
                    <a:rPr kumimoji="1" lang="en-US" altLang="ja-JP" dirty="0"/>
                    <a:t>)</a:t>
                  </a:r>
                  <a:endParaRPr kumimoji="1" lang="ja-JP" altLang="en-US" dirty="0"/>
                </a:p>
              </p:txBody>
            </p:sp>
            <p:pic>
              <p:nvPicPr>
                <p:cNvPr id="40" name="グラフィックス 39" descr="ハイハイ 単色塗りつぶし">
                  <a:extLst>
                    <a:ext uri="{FF2B5EF4-FFF2-40B4-BE49-F238E27FC236}">
                      <a16:creationId xmlns:a16="http://schemas.microsoft.com/office/drawing/2014/main" id="{53734B1D-3D48-9213-02DE-A3EE2E4A6D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94734" y="3812304"/>
                  <a:ext cx="457200" cy="457200"/>
                </a:xfrm>
                <a:prstGeom prst="rect">
                  <a:avLst/>
                </a:prstGeom>
              </p:spPr>
            </p:pic>
          </p:grpSp>
          <p:sp>
            <p:nvSpPr>
              <p:cNvPr id="47" name="楕円 46">
                <a:extLst>
                  <a:ext uri="{FF2B5EF4-FFF2-40B4-BE49-F238E27FC236}">
                    <a16:creationId xmlns:a16="http://schemas.microsoft.com/office/drawing/2014/main" id="{663DF407-3BD7-CA9C-FD0B-0777CEB3D567}"/>
                  </a:ext>
                </a:extLst>
              </p:cNvPr>
              <p:cNvSpPr/>
              <p:nvPr/>
            </p:nvSpPr>
            <p:spPr>
              <a:xfrm>
                <a:off x="1417101" y="2579992"/>
                <a:ext cx="965046" cy="453574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b="1" dirty="0"/>
                  <a:t>入力</a:t>
                </a:r>
              </a:p>
            </p:txBody>
          </p:sp>
          <p:grpSp>
            <p:nvGrpSpPr>
              <p:cNvPr id="62" name="グループ化 61">
                <a:extLst>
                  <a:ext uri="{FF2B5EF4-FFF2-40B4-BE49-F238E27FC236}">
                    <a16:creationId xmlns:a16="http://schemas.microsoft.com/office/drawing/2014/main" id="{C3E5BCA4-C887-C4C7-D9C1-B1C9A82E76D5}"/>
                  </a:ext>
                </a:extLst>
              </p:cNvPr>
              <p:cNvGrpSpPr/>
              <p:nvPr/>
            </p:nvGrpSpPr>
            <p:grpSpPr>
              <a:xfrm>
                <a:off x="1417101" y="4342139"/>
                <a:ext cx="3542403" cy="1941004"/>
                <a:chOff x="1417101" y="4342139"/>
                <a:chExt cx="3542403" cy="1941004"/>
              </a:xfrm>
            </p:grpSpPr>
            <p:sp>
              <p:nvSpPr>
                <p:cNvPr id="25" name="フローチャート: 代替処理 24">
                  <a:extLst>
                    <a:ext uri="{FF2B5EF4-FFF2-40B4-BE49-F238E27FC236}">
                      <a16:creationId xmlns:a16="http://schemas.microsoft.com/office/drawing/2014/main" id="{8CAFE10D-C698-2E92-4BD7-96CA263FC68A}"/>
                    </a:ext>
                  </a:extLst>
                </p:cNvPr>
                <p:cNvSpPr/>
                <p:nvPr/>
              </p:nvSpPr>
              <p:spPr>
                <a:xfrm>
                  <a:off x="1798533" y="4504449"/>
                  <a:ext cx="3160971" cy="1778694"/>
                </a:xfrm>
                <a:prstGeom prst="flowChartAlternateProcess">
                  <a:avLst/>
                </a:prstGeom>
                <a:solidFill>
                  <a:schemeClr val="bg1"/>
                </a:solidFill>
                <a:ln w="50800"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2" name="四角形: 角を丸くする 41">
                  <a:extLst>
                    <a:ext uri="{FF2B5EF4-FFF2-40B4-BE49-F238E27FC236}">
                      <a16:creationId xmlns:a16="http://schemas.microsoft.com/office/drawing/2014/main" id="{704C8ABE-3B63-A598-4F35-54874E64B710}"/>
                    </a:ext>
                  </a:extLst>
                </p:cNvPr>
                <p:cNvSpPr/>
                <p:nvPr/>
              </p:nvSpPr>
              <p:spPr>
                <a:xfrm>
                  <a:off x="1956265" y="4784994"/>
                  <a:ext cx="2845505" cy="52223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>
                      <a:solidFill>
                        <a:schemeClr val="tx1"/>
                      </a:solidFill>
                    </a:rPr>
                    <a:t>　</a:t>
                  </a:r>
                  <a:r>
                    <a:rPr lang="ja-JP" altLang="en-US" b="1" dirty="0">
                      <a:solidFill>
                        <a:schemeClr val="tx1"/>
                      </a:solidFill>
                    </a:rPr>
                    <a:t>走行時間</a:t>
                  </a:r>
                  <a:r>
                    <a:rPr kumimoji="1" lang="en-US" altLang="ja-JP" b="1" dirty="0">
                      <a:solidFill>
                        <a:schemeClr val="tx1"/>
                      </a:solidFill>
                    </a:rPr>
                    <a:t>(</a:t>
                  </a:r>
                  <a:r>
                    <a:rPr kumimoji="1" lang="ja-JP" altLang="en-US" b="1" dirty="0">
                      <a:solidFill>
                        <a:schemeClr val="tx1"/>
                      </a:solidFill>
                    </a:rPr>
                    <a:t>秒</a:t>
                  </a:r>
                  <a:r>
                    <a:rPr kumimoji="1" lang="en-US" altLang="ja-JP" dirty="0">
                      <a:solidFill>
                        <a:schemeClr val="tx1"/>
                      </a:solidFill>
                    </a:rPr>
                    <a:t>)</a:t>
                  </a:r>
                  <a:r>
                    <a:rPr kumimoji="1" lang="en-US" altLang="ja-JP" dirty="0"/>
                    <a:t>)</a:t>
                  </a:r>
                  <a:endParaRPr kumimoji="1" lang="ja-JP" altLang="en-US" dirty="0"/>
                </a:p>
              </p:txBody>
            </p:sp>
            <p:sp>
              <p:nvSpPr>
                <p:cNvPr id="43" name="四角形: 角を丸くする 42">
                  <a:extLst>
                    <a:ext uri="{FF2B5EF4-FFF2-40B4-BE49-F238E27FC236}">
                      <a16:creationId xmlns:a16="http://schemas.microsoft.com/office/drawing/2014/main" id="{31BB01E9-1B0C-9435-5B9D-E9D2B06ADCBB}"/>
                    </a:ext>
                  </a:extLst>
                </p:cNvPr>
                <p:cNvSpPr/>
                <p:nvPr/>
              </p:nvSpPr>
              <p:spPr>
                <a:xfrm>
                  <a:off x="1964280" y="5477301"/>
                  <a:ext cx="2845505" cy="52223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>
                      <a:solidFill>
                        <a:schemeClr val="tx1"/>
                      </a:solidFill>
                    </a:rPr>
                    <a:t>　</a:t>
                  </a:r>
                  <a:r>
                    <a:rPr lang="ja-JP" altLang="en-US" b="1" dirty="0">
                      <a:solidFill>
                        <a:schemeClr val="tx1"/>
                      </a:solidFill>
                    </a:rPr>
                    <a:t>走行距離</a:t>
                  </a:r>
                  <a:r>
                    <a:rPr kumimoji="1" lang="en-US" altLang="ja-JP" b="1" dirty="0">
                      <a:solidFill>
                        <a:schemeClr val="tx1"/>
                      </a:solidFill>
                    </a:rPr>
                    <a:t>(m</a:t>
                  </a:r>
                  <a:r>
                    <a:rPr kumimoji="1" lang="en-US" altLang="ja-JP" dirty="0">
                      <a:solidFill>
                        <a:schemeClr val="tx1"/>
                      </a:solidFill>
                    </a:rPr>
                    <a:t>)</a:t>
                  </a:r>
                  <a:r>
                    <a:rPr kumimoji="1" lang="en-US" altLang="ja-JP" dirty="0"/>
                    <a:t>)</a:t>
                  </a:r>
                  <a:endParaRPr kumimoji="1" lang="ja-JP" altLang="en-US" dirty="0"/>
                </a:p>
              </p:txBody>
            </p:sp>
            <p:pic>
              <p:nvPicPr>
                <p:cNvPr id="44" name="グラフィックス 43" descr="ストップウォッチ 75% 単色塗りつぶし">
                  <a:extLst>
                    <a:ext uri="{FF2B5EF4-FFF2-40B4-BE49-F238E27FC236}">
                      <a16:creationId xmlns:a16="http://schemas.microsoft.com/office/drawing/2014/main" id="{9E17ABE4-C52F-482E-37D5-FA0748E8A6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6794" y="4820339"/>
                  <a:ext cx="411677" cy="411677"/>
                </a:xfrm>
                <a:prstGeom prst="rect">
                  <a:avLst/>
                </a:prstGeom>
              </p:spPr>
            </p:pic>
            <p:pic>
              <p:nvPicPr>
                <p:cNvPr id="46" name="グラフィックス 45" descr="実行 単色塗りつぶし">
                  <a:extLst>
                    <a:ext uri="{FF2B5EF4-FFF2-40B4-BE49-F238E27FC236}">
                      <a16:creationId xmlns:a16="http://schemas.microsoft.com/office/drawing/2014/main" id="{57258F4F-815D-97BD-D7B6-8DB28089E2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6794" y="5528357"/>
                  <a:ext cx="446336" cy="446336"/>
                </a:xfrm>
                <a:prstGeom prst="rect">
                  <a:avLst/>
                </a:prstGeom>
              </p:spPr>
            </p:pic>
            <p:sp>
              <p:nvSpPr>
                <p:cNvPr id="48" name="楕円 47">
                  <a:extLst>
                    <a:ext uri="{FF2B5EF4-FFF2-40B4-BE49-F238E27FC236}">
                      <a16:creationId xmlns:a16="http://schemas.microsoft.com/office/drawing/2014/main" id="{A178F748-BE1C-D648-5BA6-CFC4E28831BE}"/>
                    </a:ext>
                  </a:extLst>
                </p:cNvPr>
                <p:cNvSpPr/>
                <p:nvPr/>
              </p:nvSpPr>
              <p:spPr>
                <a:xfrm>
                  <a:off x="1417101" y="4342139"/>
                  <a:ext cx="965046" cy="453574"/>
                </a:xfrm>
                <a:prstGeom prst="ellipse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b="1" dirty="0">
                      <a:solidFill>
                        <a:schemeClr val="bg1"/>
                      </a:solidFill>
                    </a:rPr>
                    <a:t>出力</a:t>
                  </a:r>
                </a:p>
              </p:txBody>
            </p:sp>
          </p:grpSp>
          <p:cxnSp>
            <p:nvCxnSpPr>
              <p:cNvPr id="52" name="直線矢印コネクタ 51">
                <a:extLst>
                  <a:ext uri="{FF2B5EF4-FFF2-40B4-BE49-F238E27FC236}">
                    <a16:creationId xmlns:a16="http://schemas.microsoft.com/office/drawing/2014/main" id="{EE509C30-7E6B-7294-5E70-B254E2E016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7312" y="3666223"/>
                <a:ext cx="1919288" cy="0"/>
              </a:xfrm>
              <a:prstGeom prst="straightConnector1">
                <a:avLst/>
              </a:prstGeom>
              <a:ln w="1016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矢印コネクタ 54">
                <a:extLst>
                  <a:ext uri="{FF2B5EF4-FFF2-40B4-BE49-F238E27FC236}">
                    <a16:creationId xmlns:a16="http://schemas.microsoft.com/office/drawing/2014/main" id="{0AFFDBF9-ACBE-69C8-7BA0-FD07BEB0AF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67312" y="5232016"/>
                <a:ext cx="1843088" cy="0"/>
              </a:xfrm>
              <a:prstGeom prst="straightConnector1">
                <a:avLst/>
              </a:prstGeom>
              <a:ln w="1016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フローチャート: 代替処理 62">
                <a:extLst>
                  <a:ext uri="{FF2B5EF4-FFF2-40B4-BE49-F238E27FC236}">
                    <a16:creationId xmlns:a16="http://schemas.microsoft.com/office/drawing/2014/main" id="{35A52717-69F9-8751-CFEB-7463C8604F07}"/>
                  </a:ext>
                </a:extLst>
              </p:cNvPr>
              <p:cNvSpPr/>
              <p:nvPr/>
            </p:nvSpPr>
            <p:spPr>
              <a:xfrm>
                <a:off x="7229300" y="3098511"/>
                <a:ext cx="3100738" cy="2661982"/>
              </a:xfrm>
              <a:prstGeom prst="flowChartAlternateProcess">
                <a:avLst/>
              </a:prstGeom>
              <a:solidFill>
                <a:schemeClr val="bg1"/>
              </a:solidFill>
              <a:ln w="508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3DB608A2-65E3-B798-BED0-B03C28657781}"/>
                  </a:ext>
                </a:extLst>
              </p:cNvPr>
              <p:cNvSpPr txBox="1"/>
              <p:nvPr/>
            </p:nvSpPr>
            <p:spPr>
              <a:xfrm>
                <a:off x="7407072" y="3564276"/>
                <a:ext cx="2870798" cy="1780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kumimoji="1" lang="ja-JP" altLang="en-US" b="1" dirty="0"/>
                  <a:t>速度計算</a:t>
                </a:r>
                <a:r>
                  <a:rPr kumimoji="1" lang="en-US" altLang="ja-JP" b="1" dirty="0"/>
                  <a:t>(</a:t>
                </a:r>
                <a:r>
                  <a:rPr kumimoji="1" lang="ja-JP" altLang="en-US" b="1" dirty="0"/>
                  <a:t>人 </a:t>
                </a:r>
                <a:r>
                  <a:rPr kumimoji="1" lang="en-US" altLang="ja-JP" b="1" dirty="0"/>
                  <a:t>/ </a:t>
                </a:r>
                <a:r>
                  <a:rPr kumimoji="1" lang="ja-JP" altLang="en-US" b="1" dirty="0"/>
                  <a:t>クマ</a:t>
                </a:r>
                <a:r>
                  <a:rPr kumimoji="1" lang="en-US" altLang="ja-JP" b="1" dirty="0"/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kumimoji="1" lang="en-US" altLang="ja-JP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kumimoji="1" lang="en-US" altLang="ja-JP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ja-JP" altLang="en-US" b="1" dirty="0"/>
                  <a:t>捕捉判定ロジック</a:t>
                </a:r>
                <a:endParaRPr lang="en-US" altLang="ja-JP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ja-JP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ja-JP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ja-JP" altLang="en-US" b="1" dirty="0"/>
                  <a:t>リアルタイム追跡処理</a:t>
                </a:r>
                <a:endParaRPr lang="en-US" altLang="ja-JP" b="1" dirty="0"/>
              </a:p>
            </p:txBody>
          </p:sp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CEF3633-FB1E-E26E-2F58-1F9B087ADF4C}"/>
                  </a:ext>
                </a:extLst>
              </p:cNvPr>
              <p:cNvSpPr txBox="1"/>
              <p:nvPr/>
            </p:nvSpPr>
            <p:spPr>
              <a:xfrm>
                <a:off x="7678546" y="2551494"/>
                <a:ext cx="3014662" cy="350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extrusionH="57150">
                  <a:bevelT w="38100" h="38100" prst="relaxedInset"/>
                </a:sp3d>
              </a:bodyPr>
              <a:lstStyle/>
              <a:p>
                <a:r>
                  <a:rPr lang="en-US" altLang="ja-JP" sz="2000" dirty="0" err="1">
                    <a:effectLst/>
                  </a:rPr>
                  <a:t>FastAPI</a:t>
                </a:r>
                <a:r>
                  <a:rPr lang="en-US" altLang="ja-JP" sz="2000" dirty="0">
                    <a:effectLst/>
                  </a:rPr>
                  <a:t> + WebSocket</a:t>
                </a:r>
              </a:p>
            </p:txBody>
          </p:sp>
          <p:sp>
            <p:nvSpPr>
              <p:cNvPr id="70" name="テキスト ボックス 69">
                <a:extLst>
                  <a:ext uri="{FF2B5EF4-FFF2-40B4-BE49-F238E27FC236}">
                    <a16:creationId xmlns:a16="http://schemas.microsoft.com/office/drawing/2014/main" id="{F84FAE34-1DF4-7336-08D5-352F1865AE07}"/>
                  </a:ext>
                </a:extLst>
              </p:cNvPr>
              <p:cNvSpPr txBox="1"/>
              <p:nvPr/>
            </p:nvSpPr>
            <p:spPr>
              <a:xfrm>
                <a:off x="5117204" y="2992270"/>
                <a:ext cx="18430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b="1" dirty="0">
                    <a:solidFill>
                      <a:schemeClr val="accent2"/>
                    </a:solidFill>
                  </a:rPr>
                  <a:t>入力パラメータ</a:t>
                </a:r>
                <a:endParaRPr lang="en-US" altLang="ja-JP" b="1" dirty="0">
                  <a:solidFill>
                    <a:schemeClr val="accent2"/>
                  </a:solidFill>
                </a:endParaRPr>
              </a:p>
              <a:p>
                <a:pPr algn="ctr"/>
                <a:r>
                  <a:rPr lang="ja-JP" altLang="en-US" b="1" dirty="0">
                    <a:solidFill>
                      <a:schemeClr val="accent2"/>
                    </a:solidFill>
                  </a:rPr>
                  <a:t>送信</a:t>
                </a:r>
                <a:endParaRPr kumimoji="1" lang="ja-JP" altLang="en-US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B6C7316E-6102-90A9-C432-A8929463A503}"/>
                  </a:ext>
                </a:extLst>
              </p:cNvPr>
              <p:cNvSpPr txBox="1"/>
              <p:nvPr/>
            </p:nvSpPr>
            <p:spPr>
              <a:xfrm>
                <a:off x="4861903" y="5381998"/>
                <a:ext cx="25179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1600" b="1" dirty="0">
                    <a:solidFill>
                      <a:schemeClr val="accent1"/>
                    </a:solidFill>
                  </a:rPr>
                  <a:t>シミュレーション結果</a:t>
                </a:r>
                <a:endParaRPr kumimoji="1" lang="en-US" altLang="ja-JP" sz="1600" b="1" dirty="0">
                  <a:solidFill>
                    <a:schemeClr val="accent1"/>
                  </a:solidFill>
                </a:endParaRPr>
              </a:p>
              <a:p>
                <a:pPr algn="ctr"/>
                <a:r>
                  <a:rPr lang="ja-JP" altLang="en-US" sz="1600" b="1" dirty="0">
                    <a:solidFill>
                      <a:schemeClr val="accent1"/>
                    </a:solidFill>
                  </a:rPr>
                  <a:t>送信</a:t>
                </a:r>
                <a:endParaRPr kumimoji="1" lang="ja-JP" altLang="en-US" sz="16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3" name="雲 72">
                <a:extLst>
                  <a:ext uri="{FF2B5EF4-FFF2-40B4-BE49-F238E27FC236}">
                    <a16:creationId xmlns:a16="http://schemas.microsoft.com/office/drawing/2014/main" id="{D8CBBEC8-A73B-A9AF-20A5-EF43ACD328B1}"/>
                  </a:ext>
                </a:extLst>
              </p:cNvPr>
              <p:cNvSpPr/>
              <p:nvPr/>
            </p:nvSpPr>
            <p:spPr>
              <a:xfrm>
                <a:off x="5194756" y="3770999"/>
                <a:ext cx="1774561" cy="1367174"/>
              </a:xfrm>
              <a:prstGeom prst="cloud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26B82547-B042-FB9C-0B7B-ECA9B002EC8A}"/>
                  </a:ext>
                </a:extLst>
              </p:cNvPr>
              <p:cNvSpPr txBox="1"/>
              <p:nvPr/>
            </p:nvSpPr>
            <p:spPr>
              <a:xfrm>
                <a:off x="5162551" y="4246940"/>
                <a:ext cx="1912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b="1" dirty="0"/>
                  <a:t>WebSocket</a:t>
                </a:r>
                <a:r>
                  <a:rPr kumimoji="1" lang="ja-JP" altLang="en-US" b="1" dirty="0"/>
                  <a:t>通信</a:t>
                </a: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2031BDD-4658-FEC1-6463-D2F2D65D5F30}"/>
                  </a:ext>
                </a:extLst>
              </p:cNvPr>
              <p:cNvSpPr txBox="1"/>
              <p:nvPr/>
            </p:nvSpPr>
            <p:spPr>
              <a:xfrm>
                <a:off x="2828940" y="2462292"/>
                <a:ext cx="3014662" cy="350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extrusionH="57150">
                  <a:bevelT w="38100" h="38100" prst="relaxedInset"/>
                </a:sp3d>
              </a:bodyPr>
              <a:lstStyle/>
              <a:p>
                <a:r>
                  <a:rPr lang="en-US" altLang="ja-JP" sz="2000" dirty="0">
                    <a:effectLst/>
                  </a:rPr>
                  <a:t>React</a:t>
                </a:r>
                <a:endParaRPr lang="en-US" altLang="ja-JP" sz="1600" dirty="0">
                  <a:effectLst/>
                </a:endParaRPr>
              </a:p>
            </p:txBody>
          </p:sp>
        </p:grp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0D8CA74-D2C5-E1A4-DE4C-B330D152AB33}"/>
                </a:ext>
              </a:extLst>
            </p:cNvPr>
            <p:cNvSpPr txBox="1"/>
            <p:nvPr/>
          </p:nvSpPr>
          <p:spPr>
            <a:xfrm>
              <a:off x="8127876" y="1834314"/>
              <a:ext cx="3461453" cy="44580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 prst="relaxedInset"/>
              </a:sp3d>
            </a:bodyPr>
            <a:lstStyle/>
            <a:p>
              <a:r>
                <a:rPr lang="en-US" altLang="ja-JP" sz="2400" dirty="0">
                  <a:effectLst/>
                </a:rPr>
                <a:t>Backend</a:t>
              </a:r>
            </a:p>
          </p:txBody>
        </p:sp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A7724E5-FAD4-E870-2251-59E0528A374C}"/>
              </a:ext>
            </a:extLst>
          </p:cNvPr>
          <p:cNvSpPr txBox="1"/>
          <p:nvPr/>
        </p:nvSpPr>
        <p:spPr>
          <a:xfrm>
            <a:off x="1209802" y="234077"/>
            <a:ext cx="5564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latin typeface="+mj-lt"/>
                <a:ea typeface="+mj-ea"/>
              </a:rPr>
              <a:t>システム構成</a:t>
            </a:r>
            <a:endParaRPr kumimoji="1" lang="ja-JP" altLang="en-US" b="1" dirty="0">
              <a:latin typeface="+mj-lt"/>
              <a:ea typeface="+mj-ea"/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A54D7336-F3D5-EA6F-D0E7-11B96CEF8284}"/>
              </a:ext>
            </a:extLst>
          </p:cNvPr>
          <p:cNvCxnSpPr/>
          <p:nvPr/>
        </p:nvCxnSpPr>
        <p:spPr>
          <a:xfrm>
            <a:off x="1042028" y="165921"/>
            <a:ext cx="3262025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A5160CCB-34DE-A7EB-A5F4-2153A7358FE6}"/>
              </a:ext>
            </a:extLst>
          </p:cNvPr>
          <p:cNvCxnSpPr>
            <a:cxnSpLocks/>
          </p:cNvCxnSpPr>
          <p:nvPr/>
        </p:nvCxnSpPr>
        <p:spPr>
          <a:xfrm>
            <a:off x="912063" y="928984"/>
            <a:ext cx="3494567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涙形 29">
            <a:extLst>
              <a:ext uri="{FF2B5EF4-FFF2-40B4-BE49-F238E27FC236}">
                <a16:creationId xmlns:a16="http://schemas.microsoft.com/office/drawing/2014/main" id="{A2A544A9-E033-38E7-EE19-83B1E423430E}"/>
              </a:ext>
            </a:extLst>
          </p:cNvPr>
          <p:cNvSpPr/>
          <p:nvPr/>
        </p:nvSpPr>
        <p:spPr>
          <a:xfrm rot="7840546">
            <a:off x="355487" y="67649"/>
            <a:ext cx="898006" cy="876854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3301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C8AEDE54-E74C-B2A8-09B2-F7A317C6E2DF}"/>
              </a:ext>
            </a:extLst>
          </p:cNvPr>
          <p:cNvGrpSpPr/>
          <p:nvPr/>
        </p:nvGrpSpPr>
        <p:grpSpPr>
          <a:xfrm>
            <a:off x="823549" y="1196299"/>
            <a:ext cx="10823905" cy="5267325"/>
            <a:chOff x="901370" y="1562100"/>
            <a:chExt cx="10687959" cy="508635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2F9B537-8250-9091-3457-012093D9D8BC}"/>
                </a:ext>
              </a:extLst>
            </p:cNvPr>
            <p:cNvGrpSpPr/>
            <p:nvPr/>
          </p:nvGrpSpPr>
          <p:grpSpPr>
            <a:xfrm>
              <a:off x="901370" y="1562100"/>
              <a:ext cx="10052380" cy="5086350"/>
              <a:chOff x="1396671" y="1832421"/>
              <a:chExt cx="9318954" cy="4617232"/>
            </a:xfrm>
          </p:grpSpPr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540E2559-8B72-46A4-91DF-DC41BF75040C}"/>
                  </a:ext>
                </a:extLst>
              </p:cNvPr>
              <p:cNvGrpSpPr/>
              <p:nvPr/>
            </p:nvGrpSpPr>
            <p:grpSpPr>
              <a:xfrm>
                <a:off x="1396671" y="1862228"/>
                <a:ext cx="3871913" cy="4587425"/>
                <a:chOff x="6843712" y="1832421"/>
                <a:chExt cx="3871913" cy="4587425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37" name="雲 36">
                  <a:extLst>
                    <a:ext uri="{FF2B5EF4-FFF2-40B4-BE49-F238E27FC236}">
                      <a16:creationId xmlns:a16="http://schemas.microsoft.com/office/drawing/2014/main" id="{97900BD9-8921-C50D-254D-791742501FBE}"/>
                    </a:ext>
                  </a:extLst>
                </p:cNvPr>
                <p:cNvSpPr/>
                <p:nvPr/>
              </p:nvSpPr>
              <p:spPr>
                <a:xfrm rot="906288">
                  <a:off x="7004146" y="1832421"/>
                  <a:ext cx="3676650" cy="2157412"/>
                </a:xfrm>
                <a:prstGeom prst="clou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38" name="四角形: 角を丸くする 37">
                  <a:extLst>
                    <a:ext uri="{FF2B5EF4-FFF2-40B4-BE49-F238E27FC236}">
                      <a16:creationId xmlns:a16="http://schemas.microsoft.com/office/drawing/2014/main" id="{C0F7E456-4DDB-DA55-5BC7-63E46152F514}"/>
                    </a:ext>
                  </a:extLst>
                </p:cNvPr>
                <p:cNvSpPr/>
                <p:nvPr/>
              </p:nvSpPr>
              <p:spPr>
                <a:xfrm>
                  <a:off x="6843712" y="2190749"/>
                  <a:ext cx="3871913" cy="4229097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ED1E6234-962E-87E5-A36E-7424B390E081}"/>
                  </a:ext>
                </a:extLst>
              </p:cNvPr>
              <p:cNvGrpSpPr/>
              <p:nvPr/>
            </p:nvGrpSpPr>
            <p:grpSpPr>
              <a:xfrm>
                <a:off x="6843712" y="1832421"/>
                <a:ext cx="3871913" cy="4587425"/>
                <a:chOff x="6843712" y="1832421"/>
                <a:chExt cx="3871913" cy="4587425"/>
              </a:xfrm>
            </p:grpSpPr>
            <p:sp>
              <p:nvSpPr>
                <p:cNvPr id="35" name="雲 34">
                  <a:extLst>
                    <a:ext uri="{FF2B5EF4-FFF2-40B4-BE49-F238E27FC236}">
                      <a16:creationId xmlns:a16="http://schemas.microsoft.com/office/drawing/2014/main" id="{2665F75D-17EF-08AD-8B98-206EBCE086D5}"/>
                    </a:ext>
                  </a:extLst>
                </p:cNvPr>
                <p:cNvSpPr/>
                <p:nvPr/>
              </p:nvSpPr>
              <p:spPr>
                <a:xfrm rot="906288">
                  <a:off x="7004146" y="1832421"/>
                  <a:ext cx="3676650" cy="2157412"/>
                </a:xfrm>
                <a:prstGeom prst="cloud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36" name="四角形: 角を丸くする 35">
                  <a:extLst>
                    <a:ext uri="{FF2B5EF4-FFF2-40B4-BE49-F238E27FC236}">
                      <a16:creationId xmlns:a16="http://schemas.microsoft.com/office/drawing/2014/main" id="{C5E930DC-3D07-6720-2176-E03E7591CDB6}"/>
                    </a:ext>
                  </a:extLst>
                </p:cNvPr>
                <p:cNvSpPr/>
                <p:nvPr/>
              </p:nvSpPr>
              <p:spPr>
                <a:xfrm>
                  <a:off x="6843712" y="2190749"/>
                  <a:ext cx="3871913" cy="4229097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ABEC9FD-1BF4-F672-7125-39234F11718C}"/>
                  </a:ext>
                </a:extLst>
              </p:cNvPr>
              <p:cNvSpPr txBox="1"/>
              <p:nvPr/>
            </p:nvSpPr>
            <p:spPr>
              <a:xfrm>
                <a:off x="2631938" y="2105734"/>
                <a:ext cx="3014662" cy="404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extrusionH="57150">
                  <a:bevelT w="38100" h="38100" prst="relaxedInset"/>
                </a:sp3d>
              </a:bodyPr>
              <a:lstStyle/>
              <a:p>
                <a:r>
                  <a:rPr lang="en-US" altLang="ja-JP" sz="2400" dirty="0">
                    <a:effectLst/>
                  </a:rPr>
                  <a:t>Frontend</a:t>
                </a:r>
              </a:p>
            </p:txBody>
          </p:sp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1CD175BD-9BC1-389E-89A0-9A51FCB4A5C3}"/>
                  </a:ext>
                </a:extLst>
              </p:cNvPr>
              <p:cNvGrpSpPr/>
              <p:nvPr/>
            </p:nvGrpSpPr>
            <p:grpSpPr>
              <a:xfrm>
                <a:off x="1814563" y="2871704"/>
                <a:ext cx="3144941" cy="1446339"/>
                <a:chOff x="1782503" y="2985267"/>
                <a:chExt cx="3144941" cy="1446339"/>
              </a:xfrm>
            </p:grpSpPr>
            <p:sp>
              <p:nvSpPr>
                <p:cNvPr id="30" name="フローチャート: 代替処理 29">
                  <a:extLst>
                    <a:ext uri="{FF2B5EF4-FFF2-40B4-BE49-F238E27FC236}">
                      <a16:creationId xmlns:a16="http://schemas.microsoft.com/office/drawing/2014/main" id="{0F9DF982-B271-5FD2-91BC-6AB35D533842}"/>
                    </a:ext>
                  </a:extLst>
                </p:cNvPr>
                <p:cNvSpPr/>
                <p:nvPr/>
              </p:nvSpPr>
              <p:spPr>
                <a:xfrm>
                  <a:off x="1782503" y="2985267"/>
                  <a:ext cx="3144941" cy="1446339"/>
                </a:xfrm>
                <a:prstGeom prst="flowChartAlternateProcess">
                  <a:avLst/>
                </a:prstGeom>
                <a:solidFill>
                  <a:schemeClr val="bg1"/>
                </a:solidFill>
                <a:ln w="508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1" name="四角形: 角を丸くする 30">
                  <a:extLst>
                    <a:ext uri="{FF2B5EF4-FFF2-40B4-BE49-F238E27FC236}">
                      <a16:creationId xmlns:a16="http://schemas.microsoft.com/office/drawing/2014/main" id="{E27D7738-78DD-AB3D-1D61-6C948E4C006E}"/>
                    </a:ext>
                  </a:extLst>
                </p:cNvPr>
                <p:cNvSpPr/>
                <p:nvPr/>
              </p:nvSpPr>
              <p:spPr>
                <a:xfrm>
                  <a:off x="1952625" y="3167881"/>
                  <a:ext cx="2845505" cy="52223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>
                      <a:solidFill>
                        <a:schemeClr val="tx1"/>
                      </a:solidFill>
                    </a:rPr>
                    <a:t>　</a:t>
                  </a:r>
                  <a:r>
                    <a:rPr kumimoji="1" lang="en-US" altLang="ja-JP" b="1" dirty="0">
                      <a:solidFill>
                        <a:schemeClr val="tx1"/>
                      </a:solidFill>
                    </a:rPr>
                    <a:t>50m</a:t>
                  </a:r>
                  <a:r>
                    <a:rPr kumimoji="1" lang="ja-JP" altLang="en-US" b="1" dirty="0">
                      <a:solidFill>
                        <a:schemeClr val="tx1"/>
                      </a:solidFill>
                    </a:rPr>
                    <a:t>走タイム</a:t>
                  </a:r>
                  <a:r>
                    <a:rPr kumimoji="1" lang="en-US" altLang="ja-JP" b="1" dirty="0">
                      <a:solidFill>
                        <a:schemeClr val="tx1"/>
                      </a:solidFill>
                    </a:rPr>
                    <a:t>(</a:t>
                  </a:r>
                  <a:r>
                    <a:rPr kumimoji="1" lang="ja-JP" altLang="en-US" b="1" dirty="0">
                      <a:solidFill>
                        <a:schemeClr val="tx1"/>
                      </a:solidFill>
                    </a:rPr>
                    <a:t>秒</a:t>
                  </a:r>
                  <a:r>
                    <a:rPr kumimoji="1" lang="en-US" altLang="ja-JP" dirty="0">
                      <a:solidFill>
                        <a:schemeClr val="tx1"/>
                      </a:solidFill>
                    </a:rPr>
                    <a:t>)</a:t>
                  </a:r>
                  <a:r>
                    <a:rPr kumimoji="1" lang="en-US" altLang="ja-JP" dirty="0"/>
                    <a:t>)</a:t>
                  </a:r>
                  <a:endParaRPr kumimoji="1" lang="ja-JP" altLang="en-US" dirty="0"/>
                </a:p>
              </p:txBody>
            </p:sp>
            <p:pic>
              <p:nvPicPr>
                <p:cNvPr id="32" name="グラフィックス 31" descr="ストップウォッチ 75% 単色塗りつぶし">
                  <a:extLst>
                    <a:ext uri="{FF2B5EF4-FFF2-40B4-BE49-F238E27FC236}">
                      <a16:creationId xmlns:a16="http://schemas.microsoft.com/office/drawing/2014/main" id="{177373C8-6B9D-3DFE-EF1F-3C83ABF433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94734" y="3229617"/>
                  <a:ext cx="411677" cy="411677"/>
                </a:xfrm>
                <a:prstGeom prst="rect">
                  <a:avLst/>
                </a:prstGeom>
              </p:spPr>
            </p:pic>
            <p:sp>
              <p:nvSpPr>
                <p:cNvPr id="33" name="四角形: 角を丸くする 32">
                  <a:extLst>
                    <a:ext uri="{FF2B5EF4-FFF2-40B4-BE49-F238E27FC236}">
                      <a16:creationId xmlns:a16="http://schemas.microsoft.com/office/drawing/2014/main" id="{CE9ECE80-7F4D-ACD3-C077-A45994F2C23D}"/>
                    </a:ext>
                  </a:extLst>
                </p:cNvPr>
                <p:cNvSpPr/>
                <p:nvPr/>
              </p:nvSpPr>
              <p:spPr>
                <a:xfrm>
                  <a:off x="1952625" y="3779786"/>
                  <a:ext cx="2845505" cy="52223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b="1" dirty="0">
                      <a:solidFill>
                        <a:schemeClr val="tx1"/>
                      </a:solidFill>
                    </a:rPr>
                    <a:t>  クマとの距離</a:t>
                  </a:r>
                  <a:r>
                    <a:rPr kumimoji="1" lang="en-US" altLang="ja-JP" b="1" dirty="0">
                      <a:solidFill>
                        <a:schemeClr val="tx1"/>
                      </a:solidFill>
                    </a:rPr>
                    <a:t>(m)</a:t>
                  </a:r>
                  <a:r>
                    <a:rPr kumimoji="1" lang="en-US" altLang="ja-JP" dirty="0"/>
                    <a:t>)</a:t>
                  </a:r>
                  <a:endParaRPr kumimoji="1" lang="ja-JP" altLang="en-US" dirty="0"/>
                </a:p>
              </p:txBody>
            </p:sp>
            <p:pic>
              <p:nvPicPr>
                <p:cNvPr id="34" name="グラフィックス 33" descr="ハイハイ 単色塗りつぶし">
                  <a:extLst>
                    <a:ext uri="{FF2B5EF4-FFF2-40B4-BE49-F238E27FC236}">
                      <a16:creationId xmlns:a16="http://schemas.microsoft.com/office/drawing/2014/main" id="{E6E6AE6E-CEB0-F638-36C5-73FC375092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94734" y="3812304"/>
                  <a:ext cx="457200" cy="457200"/>
                </a:xfrm>
                <a:prstGeom prst="rect">
                  <a:avLst/>
                </a:prstGeom>
              </p:spPr>
            </p:pic>
          </p:grpSp>
          <p:sp>
            <p:nvSpPr>
              <p:cNvPr id="10" name="楕円 9">
                <a:extLst>
                  <a:ext uri="{FF2B5EF4-FFF2-40B4-BE49-F238E27FC236}">
                    <a16:creationId xmlns:a16="http://schemas.microsoft.com/office/drawing/2014/main" id="{9209C86C-EA4C-324E-E614-8A83CEBA733E}"/>
                  </a:ext>
                </a:extLst>
              </p:cNvPr>
              <p:cNvSpPr/>
              <p:nvPr/>
            </p:nvSpPr>
            <p:spPr>
              <a:xfrm>
                <a:off x="1417101" y="2579992"/>
                <a:ext cx="965046" cy="453574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b="1" dirty="0"/>
                  <a:t>入力</a:t>
                </a:r>
              </a:p>
            </p:txBody>
          </p: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D9BF8B30-4F17-D872-40E5-FD80C584B7BD}"/>
                  </a:ext>
                </a:extLst>
              </p:cNvPr>
              <p:cNvGrpSpPr/>
              <p:nvPr/>
            </p:nvGrpSpPr>
            <p:grpSpPr>
              <a:xfrm>
                <a:off x="1417101" y="4342139"/>
                <a:ext cx="3542403" cy="1941004"/>
                <a:chOff x="1417101" y="4342139"/>
                <a:chExt cx="3542403" cy="1941004"/>
              </a:xfrm>
            </p:grpSpPr>
            <p:sp>
              <p:nvSpPr>
                <p:cNvPr id="24" name="フローチャート: 代替処理 23">
                  <a:extLst>
                    <a:ext uri="{FF2B5EF4-FFF2-40B4-BE49-F238E27FC236}">
                      <a16:creationId xmlns:a16="http://schemas.microsoft.com/office/drawing/2014/main" id="{CE42E381-F924-5124-B4B3-D60240D8186D}"/>
                    </a:ext>
                  </a:extLst>
                </p:cNvPr>
                <p:cNvSpPr/>
                <p:nvPr/>
              </p:nvSpPr>
              <p:spPr>
                <a:xfrm>
                  <a:off x="1798533" y="4504449"/>
                  <a:ext cx="3160971" cy="1778694"/>
                </a:xfrm>
                <a:prstGeom prst="flowChartAlternateProcess">
                  <a:avLst/>
                </a:prstGeom>
                <a:solidFill>
                  <a:schemeClr val="bg1"/>
                </a:solidFill>
                <a:ln w="50800"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5" name="四角形: 角を丸くする 24">
                  <a:extLst>
                    <a:ext uri="{FF2B5EF4-FFF2-40B4-BE49-F238E27FC236}">
                      <a16:creationId xmlns:a16="http://schemas.microsoft.com/office/drawing/2014/main" id="{DAF72C3B-0692-D4D2-EEF7-1C619AA89113}"/>
                    </a:ext>
                  </a:extLst>
                </p:cNvPr>
                <p:cNvSpPr/>
                <p:nvPr/>
              </p:nvSpPr>
              <p:spPr>
                <a:xfrm>
                  <a:off x="1956265" y="4784994"/>
                  <a:ext cx="2845505" cy="52223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>
                      <a:solidFill>
                        <a:schemeClr val="tx1"/>
                      </a:solidFill>
                    </a:rPr>
                    <a:t>　</a:t>
                  </a:r>
                  <a:r>
                    <a:rPr lang="ja-JP" altLang="en-US" b="1" dirty="0">
                      <a:solidFill>
                        <a:schemeClr val="tx1"/>
                      </a:solidFill>
                    </a:rPr>
                    <a:t>走行時間</a:t>
                  </a:r>
                  <a:r>
                    <a:rPr kumimoji="1" lang="en-US" altLang="ja-JP" b="1" dirty="0">
                      <a:solidFill>
                        <a:schemeClr val="tx1"/>
                      </a:solidFill>
                    </a:rPr>
                    <a:t>(</a:t>
                  </a:r>
                  <a:r>
                    <a:rPr kumimoji="1" lang="ja-JP" altLang="en-US" b="1" dirty="0">
                      <a:solidFill>
                        <a:schemeClr val="tx1"/>
                      </a:solidFill>
                    </a:rPr>
                    <a:t>秒</a:t>
                  </a:r>
                  <a:r>
                    <a:rPr kumimoji="1" lang="en-US" altLang="ja-JP" dirty="0">
                      <a:solidFill>
                        <a:schemeClr val="tx1"/>
                      </a:solidFill>
                    </a:rPr>
                    <a:t>)</a:t>
                  </a:r>
                  <a:r>
                    <a:rPr kumimoji="1" lang="en-US" altLang="ja-JP" dirty="0"/>
                    <a:t>)</a:t>
                  </a:r>
                  <a:endParaRPr kumimoji="1" lang="ja-JP" altLang="en-US" dirty="0"/>
                </a:p>
              </p:txBody>
            </p:sp>
            <p:sp>
              <p:nvSpPr>
                <p:cNvPr id="26" name="四角形: 角を丸くする 25">
                  <a:extLst>
                    <a:ext uri="{FF2B5EF4-FFF2-40B4-BE49-F238E27FC236}">
                      <a16:creationId xmlns:a16="http://schemas.microsoft.com/office/drawing/2014/main" id="{9838F0EF-F3D6-72D5-2B59-D844BD4B8DB2}"/>
                    </a:ext>
                  </a:extLst>
                </p:cNvPr>
                <p:cNvSpPr/>
                <p:nvPr/>
              </p:nvSpPr>
              <p:spPr>
                <a:xfrm>
                  <a:off x="1964280" y="5477301"/>
                  <a:ext cx="2845505" cy="52223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>
                      <a:solidFill>
                        <a:schemeClr val="tx1"/>
                      </a:solidFill>
                    </a:rPr>
                    <a:t>　</a:t>
                  </a:r>
                  <a:r>
                    <a:rPr lang="ja-JP" altLang="en-US" b="1" dirty="0">
                      <a:solidFill>
                        <a:schemeClr val="tx1"/>
                      </a:solidFill>
                    </a:rPr>
                    <a:t>走行距離</a:t>
                  </a:r>
                  <a:r>
                    <a:rPr kumimoji="1" lang="en-US" altLang="ja-JP" b="1" dirty="0">
                      <a:solidFill>
                        <a:schemeClr val="tx1"/>
                      </a:solidFill>
                    </a:rPr>
                    <a:t>(m</a:t>
                  </a:r>
                  <a:r>
                    <a:rPr kumimoji="1" lang="en-US" altLang="ja-JP" dirty="0">
                      <a:solidFill>
                        <a:schemeClr val="tx1"/>
                      </a:solidFill>
                    </a:rPr>
                    <a:t>)</a:t>
                  </a:r>
                  <a:r>
                    <a:rPr kumimoji="1" lang="en-US" altLang="ja-JP" dirty="0"/>
                    <a:t>)</a:t>
                  </a:r>
                  <a:endParaRPr kumimoji="1" lang="ja-JP" altLang="en-US" dirty="0"/>
                </a:p>
              </p:txBody>
            </p:sp>
            <p:pic>
              <p:nvPicPr>
                <p:cNvPr id="27" name="グラフィックス 26" descr="ストップウォッチ 75% 単色塗りつぶし">
                  <a:extLst>
                    <a:ext uri="{FF2B5EF4-FFF2-40B4-BE49-F238E27FC236}">
                      <a16:creationId xmlns:a16="http://schemas.microsoft.com/office/drawing/2014/main" id="{AC642623-F3F0-9FF4-4E07-7DEEBC475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6794" y="4820339"/>
                  <a:ext cx="411677" cy="411677"/>
                </a:xfrm>
                <a:prstGeom prst="rect">
                  <a:avLst/>
                </a:prstGeom>
              </p:spPr>
            </p:pic>
            <p:pic>
              <p:nvPicPr>
                <p:cNvPr id="28" name="グラフィックス 27" descr="実行 単色塗りつぶし">
                  <a:extLst>
                    <a:ext uri="{FF2B5EF4-FFF2-40B4-BE49-F238E27FC236}">
                      <a16:creationId xmlns:a16="http://schemas.microsoft.com/office/drawing/2014/main" id="{FC5776B6-B5BD-52F5-BAEC-11E6BE62CE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6794" y="5528357"/>
                  <a:ext cx="446336" cy="446336"/>
                </a:xfrm>
                <a:prstGeom prst="rect">
                  <a:avLst/>
                </a:prstGeom>
              </p:spPr>
            </p:pic>
            <p:sp>
              <p:nvSpPr>
                <p:cNvPr id="29" name="楕円 28">
                  <a:extLst>
                    <a:ext uri="{FF2B5EF4-FFF2-40B4-BE49-F238E27FC236}">
                      <a16:creationId xmlns:a16="http://schemas.microsoft.com/office/drawing/2014/main" id="{C5DAF478-77EC-89FC-F83A-C7F1A86E9D23}"/>
                    </a:ext>
                  </a:extLst>
                </p:cNvPr>
                <p:cNvSpPr/>
                <p:nvPr/>
              </p:nvSpPr>
              <p:spPr>
                <a:xfrm>
                  <a:off x="1417101" y="4342139"/>
                  <a:ext cx="965046" cy="453574"/>
                </a:xfrm>
                <a:prstGeom prst="ellipse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b="1" dirty="0">
                      <a:solidFill>
                        <a:schemeClr val="bg1"/>
                      </a:solidFill>
                    </a:rPr>
                    <a:t>出力</a:t>
                  </a:r>
                </a:p>
              </p:txBody>
            </p:sp>
          </p:grpSp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2A98F188-3BE9-60B0-241D-C14186C9D2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7312" y="3666223"/>
                <a:ext cx="1919288" cy="0"/>
              </a:xfrm>
              <a:prstGeom prst="straightConnector1">
                <a:avLst/>
              </a:prstGeom>
              <a:ln w="1016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F148828C-81BC-6BF8-5956-F49AC2FFD7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67312" y="5232016"/>
                <a:ext cx="1843088" cy="0"/>
              </a:xfrm>
              <a:prstGeom prst="straightConnector1">
                <a:avLst/>
              </a:prstGeom>
              <a:ln w="1016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フローチャート: 代替処理 15">
                <a:extLst>
                  <a:ext uri="{FF2B5EF4-FFF2-40B4-BE49-F238E27FC236}">
                    <a16:creationId xmlns:a16="http://schemas.microsoft.com/office/drawing/2014/main" id="{95DD4215-2110-1D60-E029-BF2D7AF9E1AC}"/>
                  </a:ext>
                </a:extLst>
              </p:cNvPr>
              <p:cNvSpPr/>
              <p:nvPr/>
            </p:nvSpPr>
            <p:spPr>
              <a:xfrm>
                <a:off x="7229300" y="3098511"/>
                <a:ext cx="3100738" cy="2661982"/>
              </a:xfrm>
              <a:prstGeom prst="flowChartAlternateProcess">
                <a:avLst/>
              </a:prstGeom>
              <a:solidFill>
                <a:schemeClr val="bg1"/>
              </a:solidFill>
              <a:ln w="508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E1B5A146-2C90-F292-C445-7CB862F20AA6}"/>
                  </a:ext>
                </a:extLst>
              </p:cNvPr>
              <p:cNvSpPr txBox="1"/>
              <p:nvPr/>
            </p:nvSpPr>
            <p:spPr>
              <a:xfrm>
                <a:off x="7407072" y="3564276"/>
                <a:ext cx="2870798" cy="1780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kumimoji="1" lang="ja-JP" altLang="en-US" b="1" dirty="0"/>
                  <a:t>速度計算</a:t>
                </a:r>
                <a:r>
                  <a:rPr kumimoji="1" lang="en-US" altLang="ja-JP" b="1" dirty="0"/>
                  <a:t>(</a:t>
                </a:r>
                <a:r>
                  <a:rPr kumimoji="1" lang="ja-JP" altLang="en-US" b="1" dirty="0"/>
                  <a:t>人 </a:t>
                </a:r>
                <a:r>
                  <a:rPr kumimoji="1" lang="en-US" altLang="ja-JP" b="1" dirty="0"/>
                  <a:t>/ </a:t>
                </a:r>
                <a:r>
                  <a:rPr kumimoji="1" lang="ja-JP" altLang="en-US" b="1" dirty="0"/>
                  <a:t>クマ</a:t>
                </a:r>
                <a:r>
                  <a:rPr kumimoji="1" lang="en-US" altLang="ja-JP" b="1" dirty="0"/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kumimoji="1" lang="en-US" altLang="ja-JP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kumimoji="1" lang="en-US" altLang="ja-JP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ja-JP" altLang="en-US" b="1" dirty="0"/>
                  <a:t>捕捉判定ロジック</a:t>
                </a:r>
                <a:endParaRPr lang="en-US" altLang="ja-JP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ja-JP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ja-JP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ja-JP" altLang="en-US" b="1" dirty="0"/>
                  <a:t>リアルタイム追跡処理</a:t>
                </a:r>
                <a:endParaRPr lang="en-US" altLang="ja-JP" b="1" dirty="0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212BF70-5D75-D8F9-264D-1ED3FF81C1AA}"/>
                  </a:ext>
                </a:extLst>
              </p:cNvPr>
              <p:cNvSpPr txBox="1"/>
              <p:nvPr/>
            </p:nvSpPr>
            <p:spPr>
              <a:xfrm>
                <a:off x="7678546" y="2551494"/>
                <a:ext cx="3014662" cy="350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extrusionH="57150">
                  <a:bevelT w="38100" h="38100" prst="relaxedInset"/>
                </a:sp3d>
              </a:bodyPr>
              <a:lstStyle/>
              <a:p>
                <a:r>
                  <a:rPr lang="en-US" altLang="ja-JP" sz="2000" dirty="0" err="1">
                    <a:effectLst/>
                  </a:rPr>
                  <a:t>FastAPI</a:t>
                </a:r>
                <a:r>
                  <a:rPr lang="en-US" altLang="ja-JP" sz="2000" dirty="0">
                    <a:effectLst/>
                  </a:rPr>
                  <a:t> + WebSocket</a:t>
                </a:r>
              </a:p>
            </p:txBody>
          </p: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D25DA81-40B4-98BD-3DF7-F92E1D3B1A5F}"/>
                  </a:ext>
                </a:extLst>
              </p:cNvPr>
              <p:cNvSpPr txBox="1"/>
              <p:nvPr/>
            </p:nvSpPr>
            <p:spPr>
              <a:xfrm>
                <a:off x="5117204" y="2992270"/>
                <a:ext cx="18430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b="1" dirty="0">
                    <a:solidFill>
                      <a:schemeClr val="accent2"/>
                    </a:solidFill>
                  </a:rPr>
                  <a:t>入力パラメータ</a:t>
                </a:r>
                <a:endParaRPr lang="en-US" altLang="ja-JP" b="1" dirty="0">
                  <a:solidFill>
                    <a:schemeClr val="accent2"/>
                  </a:solidFill>
                </a:endParaRPr>
              </a:p>
              <a:p>
                <a:pPr algn="ctr"/>
                <a:r>
                  <a:rPr lang="ja-JP" altLang="en-US" b="1" dirty="0">
                    <a:solidFill>
                      <a:schemeClr val="accent2"/>
                    </a:solidFill>
                  </a:rPr>
                  <a:t>送信</a:t>
                </a:r>
                <a:endParaRPr kumimoji="1" lang="ja-JP" altLang="en-US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85AFE70-98A5-487D-1314-E803A6075E9F}"/>
                  </a:ext>
                </a:extLst>
              </p:cNvPr>
              <p:cNvSpPr txBox="1"/>
              <p:nvPr/>
            </p:nvSpPr>
            <p:spPr>
              <a:xfrm>
                <a:off x="4861903" y="5381998"/>
                <a:ext cx="25179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1600" b="1" dirty="0">
                    <a:solidFill>
                      <a:schemeClr val="accent1"/>
                    </a:solidFill>
                  </a:rPr>
                  <a:t>シミュレーション結果</a:t>
                </a:r>
                <a:endParaRPr kumimoji="1" lang="en-US" altLang="ja-JP" sz="1600" b="1" dirty="0">
                  <a:solidFill>
                    <a:schemeClr val="accent1"/>
                  </a:solidFill>
                </a:endParaRPr>
              </a:p>
              <a:p>
                <a:pPr algn="ctr"/>
                <a:r>
                  <a:rPr lang="ja-JP" altLang="en-US" sz="1600" b="1" dirty="0">
                    <a:solidFill>
                      <a:schemeClr val="accent1"/>
                    </a:solidFill>
                  </a:rPr>
                  <a:t>送信</a:t>
                </a:r>
                <a:endParaRPr kumimoji="1" lang="ja-JP" altLang="en-US" sz="16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" name="雲 20">
                <a:extLst>
                  <a:ext uri="{FF2B5EF4-FFF2-40B4-BE49-F238E27FC236}">
                    <a16:creationId xmlns:a16="http://schemas.microsoft.com/office/drawing/2014/main" id="{10C4C471-9395-87EB-07B2-61F2D1180E86}"/>
                  </a:ext>
                </a:extLst>
              </p:cNvPr>
              <p:cNvSpPr/>
              <p:nvPr/>
            </p:nvSpPr>
            <p:spPr>
              <a:xfrm>
                <a:off x="5194756" y="3770999"/>
                <a:ext cx="1774561" cy="1367174"/>
              </a:xfrm>
              <a:prstGeom prst="cloud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E8318D9E-640A-6FC1-ABB7-E820DB58DB7D}"/>
                  </a:ext>
                </a:extLst>
              </p:cNvPr>
              <p:cNvSpPr txBox="1"/>
              <p:nvPr/>
            </p:nvSpPr>
            <p:spPr>
              <a:xfrm>
                <a:off x="5162551" y="4246940"/>
                <a:ext cx="1912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b="1" dirty="0"/>
                  <a:t>WebSocket</a:t>
                </a:r>
                <a:r>
                  <a:rPr kumimoji="1" lang="ja-JP" altLang="en-US" b="1" dirty="0"/>
                  <a:t>通信</a:t>
                </a:r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7BC5818B-4EB1-BB8D-31C4-5C2F5734A491}"/>
                  </a:ext>
                </a:extLst>
              </p:cNvPr>
              <p:cNvSpPr txBox="1"/>
              <p:nvPr/>
            </p:nvSpPr>
            <p:spPr>
              <a:xfrm>
                <a:off x="2828940" y="2462292"/>
                <a:ext cx="3014662" cy="350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extrusionH="57150">
                  <a:bevelT w="38100" h="38100" prst="relaxedInset"/>
                </a:sp3d>
              </a:bodyPr>
              <a:lstStyle/>
              <a:p>
                <a:r>
                  <a:rPr lang="en-US" altLang="ja-JP" sz="2000" dirty="0">
                    <a:effectLst/>
                  </a:rPr>
                  <a:t>React</a:t>
                </a:r>
                <a:endParaRPr lang="en-US" altLang="ja-JP" sz="1600" dirty="0">
                  <a:effectLst/>
                </a:endParaRPr>
              </a:p>
            </p:txBody>
          </p:sp>
        </p:grp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1A637E39-30A6-688C-3FA0-6A829C9BB025}"/>
                </a:ext>
              </a:extLst>
            </p:cNvPr>
            <p:cNvSpPr txBox="1"/>
            <p:nvPr/>
          </p:nvSpPr>
          <p:spPr>
            <a:xfrm>
              <a:off x="8127876" y="1834314"/>
              <a:ext cx="3461453" cy="44580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 prst="relaxedInset"/>
              </a:sp3d>
            </a:bodyPr>
            <a:lstStyle/>
            <a:p>
              <a:r>
                <a:rPr lang="en-US" altLang="ja-JP" sz="2400" dirty="0">
                  <a:effectLst/>
                </a:rPr>
                <a:t>Backend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810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A8E64-46D6-89D7-F2BD-A12BAA14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EC0227-2172-7573-005F-10AC23E89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91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E987D3-F415-F4B6-2BCA-F5BDDEF5B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F7E54E-2836-7923-4D0E-A07ABF8F4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37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120</Words>
  <Application>Microsoft Office PowerPoint</Application>
  <PresentationFormat>ワイド画面</PresentationFormat>
  <Paragraphs>47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Wingdings</vt:lpstr>
      <vt:lpstr>Office テーマ</vt:lpstr>
      <vt:lpstr>技育キャンプ Vol.17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Kimura Hayato (木村颯人)</dc:creator>
  <cp:lastModifiedBy>Kimura Hayato (木村颯人)</cp:lastModifiedBy>
  <cp:revision>11</cp:revision>
  <dcterms:created xsi:type="dcterms:W3CDTF">2026-01-09T06:05:32Z</dcterms:created>
  <dcterms:modified xsi:type="dcterms:W3CDTF">2026-01-09T12:17:17Z</dcterms:modified>
</cp:coreProperties>
</file>